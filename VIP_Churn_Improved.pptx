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2" r:id="rId9"/>
    <p:sldId id="270" r:id="rId10"/>
    <p:sldId id="271" r:id="rId11"/>
    <p:sldId id="261" r:id="rId12"/>
    <p:sldId id="272" r:id="rId13"/>
    <p:sldId id="263" r:id="rId14"/>
    <p:sldId id="264" r:id="rId15"/>
    <p:sldId id="265" r:id="rId16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041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4191B-E3C3-C102-23B6-E7B143484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85A67-2A5D-A53E-DEA6-D9B029545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1BA50-9E01-1420-CA2E-5EE3F6B15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B41AB-993F-6243-9012-6DE3ED8E72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47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2F75-5FC4-3ACA-B5B2-8EB22E02D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B113E-984B-902E-EC59-4E7A41A9D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A175D-EF78-2C31-D8D0-CFF122723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F067F-FD0C-B482-AF20-A4689BF2F8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20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D7D78-5ED9-CCEC-8927-A93B9CAE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57464-B792-19C4-0F1E-FA90D78AA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4D3FE-61E9-CAA1-20A6-B4604736D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53425-60DA-9A85-14B8-86052D0A82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5B0B6-F818-8B4E-3F9C-27EC85CB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47A8C-3D13-9F40-3510-A180731C5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C05A0-2392-73B5-301C-A88D1C33E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6D50A-D212-B5EF-70D2-E18E95F3C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18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7FEC-E2EC-A699-E88F-667AE8E1F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9A489-E611-28C7-B8BE-811E7DD1C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30F4F-0180-E3B1-8D16-C30F51E95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4DAB4-0E18-E9FB-8A3C-B5F98691E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20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3566160"/>
            <a:ext cx="621792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Seasonality-Aware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A9BB0"/>
                </a:solidFill>
              </a:rPr>
              <a:t>Dynamic RFM Metrics &amp; Machine Learning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A9BB0"/>
                </a:solidFill>
              </a:rPr>
              <a:t>for Holiday Value Migration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0C0"/>
                </a:solidFill>
              </a:rPr>
              <a:t>Data Analytics &amp; Data Mining  ·  CSC 1144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55080" y="502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GROUP MEMBERS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55080" y="868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Aditya Vardhan Sharma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225296"/>
            <a:ext cx="2377440" cy="9144"/>
          </a:xfrm>
          <a:prstGeom prst="rect">
            <a:avLst/>
          </a:prstGeom>
          <a:solidFill>
            <a:srgbClr val="1A9E8C"/>
          </a:solidFill>
          <a:ln w="12700">
            <a:solidFill>
              <a:srgbClr val="1A9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55080" y="1371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Aryan Yadav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728216"/>
            <a:ext cx="2377440" cy="9144"/>
          </a:xfrm>
          <a:prstGeom prst="rect">
            <a:avLst/>
          </a:prstGeom>
          <a:solidFill>
            <a:srgbClr val="1A9E8C"/>
          </a:solidFill>
          <a:ln w="12700">
            <a:solidFill>
              <a:srgbClr val="1A9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55080" y="1874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Arin Ajay Lale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2231136"/>
            <a:ext cx="2377440" cy="9144"/>
          </a:xfrm>
          <a:prstGeom prst="rect">
            <a:avLst/>
          </a:prstGeom>
          <a:solidFill>
            <a:srgbClr val="1A9E8C"/>
          </a:solidFill>
          <a:ln w="12700">
            <a:solidFill>
              <a:srgbClr val="1A9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55080" y="2377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Hemank Bhardwaj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731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7A9A"/>
                </a:solidFill>
              </a:rPr>
              <a:t>Dataset: Dunnhumby Retail  ·  245M transactions  ·  ~500k customers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OBJECTIVE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4A5568"/>
                </a:solidFill>
              </a:rPr>
              <a:t>Track and predict the Value Migration of VIP customers across the Christmas holiday peak using dynamic RFM metrics and machine learning.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2029968"/>
            <a:ext cx="40690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2029968"/>
            <a:ext cx="4069080" cy="347472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093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7C6E"/>
                </a:solidFill>
              </a:rPr>
              <a:t>RQ1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50392" y="20299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Segment Stability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2450592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Do RFM-defined segments remain stable, or does the holiday peak force migration into a temporary "Holiday VIP" cluster? Do true VIPs behave differently during November–December?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0690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09160" y="2029968"/>
            <a:ext cx="4069080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46320" y="209397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0" y="2093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4A843"/>
                </a:solidFill>
              </a:rPr>
              <a:t>RQ2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148072" y="20299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Retention Prediction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3752" y="2450592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What features distinguish a long-term VIP from a seasonal surge shopper? Can we accurately predict which VIPs maintain post-holiday status using pre-holiday behavioural signals?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LITERATURE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Static Snapshots to Predictive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9748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974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6072" y="16276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392B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76072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B4A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" y="2423160"/>
            <a:ext cx="2377440" cy="182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6072" y="2496312"/>
            <a:ext cx="2377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Traditional RFM frameworks generate static snapshots. They fail to capture the volatility of seasonal retail behaviour — high-value shoppers during Christmas may be ordinary customers in January.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1508760"/>
            <a:ext cx="269748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64408" y="1508760"/>
            <a:ext cx="26974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29000" y="16276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A843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29000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B4A"/>
                </a:solidFill>
              </a:rPr>
              <a:t>Dynamic Migration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29000" y="2423160"/>
            <a:ext cx="2377440" cy="1828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29000" y="2496312"/>
            <a:ext cx="2377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Customer value is fluid. Modelling cluster transitions — rather than single-period assignments — separates Temporary Spenders from Long-term Assets, enabling proactive intervention.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17336" y="1508760"/>
            <a:ext cx="269748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17336" y="1508760"/>
            <a:ext cx="2697480" cy="54864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81928" y="16276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7C6E"/>
                </a:solidFill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81928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B4A"/>
                </a:solidFill>
              </a:rPr>
              <a:t>The Shift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81928" y="2423160"/>
            <a:ext cx="2377440" cy="1828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81928" y="2496312"/>
            <a:ext cx="2377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Moving from observation to predictive analytics by integrating probabilistic retention modelling with temporal features. GMM enables soft cluster membership, reflecting real-world ambiguity.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Dunnhumby Retail Dataset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1208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245M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21208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Valid Transactions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32888" y="1417320"/>
            <a:ext cx="54864" cy="9601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42616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42616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Distinct Customers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54296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54296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64024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~5,000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64024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Distinct Products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75704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775704" y="1417320"/>
            <a:ext cx="54864" cy="9601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85432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117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85432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Weeks of Data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480" y="2542032"/>
            <a:ext cx="2697480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21208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Source &amp; Scope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1208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Large-scale grocery transaction data from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Dunnhumby retail dataset, spanning Apr 2006 – Jul 2008.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Millions of valid records across customers and stores.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64408" y="2542032"/>
            <a:ext cx="2697480" cy="29260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374136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Merge &amp; Clean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74136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Transactions joined to temporal data on SHOP_WEEK.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Records filtered: quantity &gt; 0, spend &gt; 0.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Invalid dates coerced then dropped.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17336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17336" y="2542032"/>
            <a:ext cx="2697480" cy="2926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27064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Outlier Capping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27064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Spend and Quantity capped at the 99th percentile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to remove B2B / wholesale noise.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Spend cap: £16.29  ·  Qty cap: 10 units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26E74-823F-779C-43FF-C1D01118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18E4AB-A3A5-DB1B-D11A-CA06AB188DE1}"/>
              </a:ext>
            </a:extLst>
          </p:cNvPr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7BE89D-490F-3B38-FCC0-EA6C221A7957}"/>
              </a:ext>
            </a:extLst>
          </p:cNvPr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Raw DATA</a:t>
            </a:r>
            <a:endParaRPr lang="en-US" sz="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D814F66-346E-66A8-FC95-C8EA522E8A7E}"/>
              </a:ext>
            </a:extLst>
          </p:cNvPr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64B7087-A604-7396-6DFD-D05487F5548B}"/>
              </a:ext>
            </a:extLst>
          </p:cNvPr>
          <p:cNvSpPr/>
          <p:nvPr/>
        </p:nvSpPr>
        <p:spPr>
          <a:xfrm>
            <a:off x="411480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4202BF-E313-6BEC-EA28-D4E1F85181CC}"/>
              </a:ext>
            </a:extLst>
          </p:cNvPr>
          <p:cNvSpPr/>
          <p:nvPr/>
        </p:nvSpPr>
        <p:spPr>
          <a:xfrm>
            <a:off x="411480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B8C03E0-C2F8-D003-5A4B-ABFC57A7B1F7}"/>
              </a:ext>
            </a:extLst>
          </p:cNvPr>
          <p:cNvSpPr/>
          <p:nvPr/>
        </p:nvSpPr>
        <p:spPr>
          <a:xfrm>
            <a:off x="521208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245M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295599-9208-4B3A-FED2-56C72C6981B8}"/>
              </a:ext>
            </a:extLst>
          </p:cNvPr>
          <p:cNvSpPr/>
          <p:nvPr/>
        </p:nvSpPr>
        <p:spPr>
          <a:xfrm>
            <a:off x="521208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Valid Transactions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259B3A0-B599-3C63-80CF-38F38234A374}"/>
              </a:ext>
            </a:extLst>
          </p:cNvPr>
          <p:cNvSpPr/>
          <p:nvPr/>
        </p:nvSpPr>
        <p:spPr>
          <a:xfrm>
            <a:off x="2532888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AC75A0D-850B-3D2F-037D-2066121D0249}"/>
              </a:ext>
            </a:extLst>
          </p:cNvPr>
          <p:cNvSpPr/>
          <p:nvPr/>
        </p:nvSpPr>
        <p:spPr>
          <a:xfrm>
            <a:off x="2532888" y="1417320"/>
            <a:ext cx="54864" cy="9601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90777E7-141E-0454-29A4-273C513F1BEB}"/>
              </a:ext>
            </a:extLst>
          </p:cNvPr>
          <p:cNvSpPr/>
          <p:nvPr/>
        </p:nvSpPr>
        <p:spPr>
          <a:xfrm>
            <a:off x="2642616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~500k</a:t>
            </a:r>
            <a:endParaRPr lang="en-US" sz="3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10A3ED0-C8E5-A2D7-5BD9-EE42A89CAAE8}"/>
              </a:ext>
            </a:extLst>
          </p:cNvPr>
          <p:cNvSpPr/>
          <p:nvPr/>
        </p:nvSpPr>
        <p:spPr>
          <a:xfrm>
            <a:off x="2642616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Distinct Customers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6BE34AE-2545-F14C-7D56-4E63EF0AA397}"/>
              </a:ext>
            </a:extLst>
          </p:cNvPr>
          <p:cNvSpPr/>
          <p:nvPr/>
        </p:nvSpPr>
        <p:spPr>
          <a:xfrm>
            <a:off x="4654296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5FF1E4D-32C9-7C01-9EBB-C947D37547D8}"/>
              </a:ext>
            </a:extLst>
          </p:cNvPr>
          <p:cNvSpPr/>
          <p:nvPr/>
        </p:nvSpPr>
        <p:spPr>
          <a:xfrm>
            <a:off x="4654296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6D4C442-3BFD-275F-9A0E-F5C1D9837FE2}"/>
              </a:ext>
            </a:extLst>
          </p:cNvPr>
          <p:cNvSpPr/>
          <p:nvPr/>
        </p:nvSpPr>
        <p:spPr>
          <a:xfrm>
            <a:off x="4764024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~5,000</a:t>
            </a:r>
            <a:endParaRPr lang="en-US" sz="3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E154007-9467-6039-E802-21D3847DE628}"/>
              </a:ext>
            </a:extLst>
          </p:cNvPr>
          <p:cNvSpPr/>
          <p:nvPr/>
        </p:nvSpPr>
        <p:spPr>
          <a:xfrm>
            <a:off x="4764024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Distinct Products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660DF87-998B-A647-272F-BAFFBCF8FA48}"/>
              </a:ext>
            </a:extLst>
          </p:cNvPr>
          <p:cNvSpPr/>
          <p:nvPr/>
        </p:nvSpPr>
        <p:spPr>
          <a:xfrm>
            <a:off x="6775704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4201425-FFEF-4EE5-E9AD-925561FEC9BB}"/>
              </a:ext>
            </a:extLst>
          </p:cNvPr>
          <p:cNvSpPr/>
          <p:nvPr/>
        </p:nvSpPr>
        <p:spPr>
          <a:xfrm>
            <a:off x="6775704" y="1417320"/>
            <a:ext cx="54864" cy="9601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7B0C383-D0D6-A089-BF56-361C84C1EC8B}"/>
              </a:ext>
            </a:extLst>
          </p:cNvPr>
          <p:cNvSpPr/>
          <p:nvPr/>
        </p:nvSpPr>
        <p:spPr>
          <a:xfrm>
            <a:off x="6885432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117</a:t>
            </a:r>
            <a:endParaRPr lang="en-US" sz="3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F5B535A-1BFF-F03B-A77A-4C68B73CC052}"/>
              </a:ext>
            </a:extLst>
          </p:cNvPr>
          <p:cNvSpPr/>
          <p:nvPr/>
        </p:nvSpPr>
        <p:spPr>
          <a:xfrm>
            <a:off x="6885432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Weeks of Data</a:t>
            </a:r>
            <a:endParaRPr lang="en-US" sz="9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F720238-88DE-0EA0-E23C-CF7A27F36AFD}"/>
              </a:ext>
            </a:extLst>
          </p:cNvPr>
          <p:cNvSpPr/>
          <p:nvPr/>
        </p:nvSpPr>
        <p:spPr>
          <a:xfrm>
            <a:off x="411480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8FAA91D-4492-F646-D006-84EB94446B54}"/>
              </a:ext>
            </a:extLst>
          </p:cNvPr>
          <p:cNvSpPr/>
          <p:nvPr/>
        </p:nvSpPr>
        <p:spPr>
          <a:xfrm>
            <a:off x="411480" y="2542032"/>
            <a:ext cx="2697480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0121C9B-B5BE-D6E8-11F9-64A30453F92F}"/>
              </a:ext>
            </a:extLst>
          </p:cNvPr>
          <p:cNvSpPr/>
          <p:nvPr/>
        </p:nvSpPr>
        <p:spPr>
          <a:xfrm>
            <a:off x="521208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Source &amp; Scope</a:t>
            </a:r>
            <a:endParaRPr lang="en-US" sz="10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1EF5F61-6EDD-E977-AF82-3C5888A05C7A}"/>
              </a:ext>
            </a:extLst>
          </p:cNvPr>
          <p:cNvSpPr/>
          <p:nvPr/>
        </p:nvSpPr>
        <p:spPr>
          <a:xfrm>
            <a:off x="521208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Large-scale grocery transaction data from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Dunnhumby retail dataset, spanning Apr 2006 – Jul 2008.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Millions of valid records across customers and stores.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33A055A-ECDF-6304-679C-C35A224BA649}"/>
              </a:ext>
            </a:extLst>
          </p:cNvPr>
          <p:cNvSpPr/>
          <p:nvPr/>
        </p:nvSpPr>
        <p:spPr>
          <a:xfrm>
            <a:off x="3264408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98B6C37-2F6C-96F3-0DAD-36DAE44E5F28}"/>
              </a:ext>
            </a:extLst>
          </p:cNvPr>
          <p:cNvSpPr/>
          <p:nvPr/>
        </p:nvSpPr>
        <p:spPr>
          <a:xfrm>
            <a:off x="3264408" y="2542032"/>
            <a:ext cx="2697480" cy="29260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544431E-D48B-1DE6-F974-22612639C1B8}"/>
              </a:ext>
            </a:extLst>
          </p:cNvPr>
          <p:cNvSpPr/>
          <p:nvPr/>
        </p:nvSpPr>
        <p:spPr>
          <a:xfrm>
            <a:off x="3374136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Merge &amp; Clean</a:t>
            </a:r>
            <a:endParaRPr lang="en-US" sz="10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2EDA489-95C1-9D90-D946-B3B4DBD37FD9}"/>
              </a:ext>
            </a:extLst>
          </p:cNvPr>
          <p:cNvSpPr/>
          <p:nvPr/>
        </p:nvSpPr>
        <p:spPr>
          <a:xfrm>
            <a:off x="3374136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Transactions joined to temporal data on SHOP_WEEK.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Records filtered: quantity &gt; 0, spend &gt; 0.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Invalid dates coerced then dropped.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71F268F-9596-ABC9-6DD5-7E70FF192CC6}"/>
              </a:ext>
            </a:extLst>
          </p:cNvPr>
          <p:cNvSpPr/>
          <p:nvPr/>
        </p:nvSpPr>
        <p:spPr>
          <a:xfrm>
            <a:off x="6117336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0F63836-B788-DF37-D76C-0FD1F167472E}"/>
              </a:ext>
            </a:extLst>
          </p:cNvPr>
          <p:cNvSpPr/>
          <p:nvPr/>
        </p:nvSpPr>
        <p:spPr>
          <a:xfrm>
            <a:off x="6117336" y="2542032"/>
            <a:ext cx="2697480" cy="2926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8D95E94-778A-17FF-E031-54FB93629ACB}"/>
              </a:ext>
            </a:extLst>
          </p:cNvPr>
          <p:cNvSpPr/>
          <p:nvPr/>
        </p:nvSpPr>
        <p:spPr>
          <a:xfrm>
            <a:off x="6227064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Outlier Capping</a:t>
            </a:r>
            <a:endParaRPr lang="en-US" sz="10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7B7622C-0C72-5535-98C2-95A56EEA47BC}"/>
              </a:ext>
            </a:extLst>
          </p:cNvPr>
          <p:cNvSpPr/>
          <p:nvPr/>
        </p:nvSpPr>
        <p:spPr>
          <a:xfrm>
            <a:off x="6227064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Spend and Quantity capped at the 99th percentile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to remove B2B / wholesale noise.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Spend cap: £16.29  ·  Qty cap: 10 units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641A6F0-A783-CFAB-CB8B-BB485BC1F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9162"/>
            <a:ext cx="9144000" cy="435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4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PROJECT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Stages from Raw Data to Insight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1901952"/>
            <a:ext cx="7772400" cy="45720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9496" y="1572768"/>
            <a:ext cx="475488" cy="47548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9496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1572768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1572768" cy="54864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4A"/>
                </a:solidFill>
              </a:rPr>
              <a:t>Pre-processing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14173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Dask-powered loading, merging, cleaning, date parsing for 245M transactions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03704" y="1572768"/>
            <a:ext cx="475488" cy="475488"/>
          </a:xfrm>
          <a:prstGeom prst="ellipse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203704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075688" y="2194560"/>
            <a:ext cx="1572768" cy="2606040"/>
          </a:xfrm>
          <a:prstGeom prst="rect">
            <a:avLst/>
          </a:prstGeom>
          <a:solidFill>
            <a:srgbClr val="EDF2F7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75688" y="2194560"/>
            <a:ext cx="1572768" cy="54864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167128" y="22860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/>
              <a:t>Feature Engineering</a:t>
            </a:r>
          </a:p>
        </p:txBody>
      </p:sp>
      <p:sp>
        <p:nvSpPr>
          <p:cNvPr id="18" name="Text 16"/>
          <p:cNvSpPr/>
          <p:nvPr/>
        </p:nvSpPr>
        <p:spPr>
          <a:xfrm>
            <a:off x="2167128" y="2670048"/>
            <a:ext cx="14173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A5568"/>
                </a:solidFill>
              </a:rPr>
              <a:t>14 seasonality-aware features: Spend Share, Uplift Ratio, Pre-Loyalty Score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67912" y="1572768"/>
            <a:ext cx="475488" cy="475488"/>
          </a:xfrm>
          <a:prstGeom prst="ellipse">
            <a:avLst/>
          </a:prstGeom>
          <a:solidFill>
            <a:srgbClr val="0A9E8C"/>
          </a:solidFill>
          <a:ln w="12700">
            <a:solidFill>
              <a:srgbClr val="0A9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867912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739896" y="2249424"/>
            <a:ext cx="1572768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3739896" y="2194560"/>
            <a:ext cx="1572768" cy="54864"/>
          </a:xfrm>
          <a:prstGeom prst="rect">
            <a:avLst/>
          </a:prstGeom>
          <a:solidFill>
            <a:srgbClr val="0A9E8C"/>
          </a:solidFill>
          <a:ln w="12700">
            <a:solidFill>
              <a:srgbClr val="0A9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31336" y="22860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1C2B4A"/>
                </a:solidFill>
              </a:rPr>
              <a:t>Segmentation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31336" y="2670048"/>
            <a:ext cx="14173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A5568"/>
                </a:solidFill>
              </a:rPr>
              <a:t>GMM clustering (n=3) to mathematically isolate 80,908 True VIP shoppers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32120" y="1572768"/>
            <a:ext cx="475488" cy="475488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532120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04104" y="2194560"/>
            <a:ext cx="1572768" cy="2606040"/>
          </a:xfrm>
          <a:prstGeom prst="rect">
            <a:avLst/>
          </a:prstGeom>
          <a:solidFill>
            <a:srgbClr val="EDF2F7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404104" y="2194560"/>
            <a:ext cx="1572768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95544" y="22860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4A"/>
                </a:solidFill>
              </a:rPr>
              <a:t>Predictive Modelling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95544" y="2670048"/>
            <a:ext cx="14173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Logistic Regression &amp; XGBoost trained to flag Value-Churned VIPs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96328" y="1572768"/>
            <a:ext cx="475488" cy="475488"/>
          </a:xfrm>
          <a:prstGeom prst="ellipse">
            <a:avLst/>
          </a:prstGeom>
          <a:solidFill>
            <a:srgbClr val="2D7D4E"/>
          </a:solidFill>
          <a:ln w="12700">
            <a:solidFill>
              <a:srgbClr val="2D7D4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196328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068312" y="2194560"/>
            <a:ext cx="1572768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068312" y="2194560"/>
            <a:ext cx="1572768" cy="54864"/>
          </a:xfrm>
          <a:prstGeom prst="rect">
            <a:avLst/>
          </a:prstGeom>
          <a:solidFill>
            <a:srgbClr val="2D7D4E"/>
          </a:solidFill>
          <a:ln w="12700">
            <a:solidFill>
              <a:srgbClr val="2D7D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159752" y="22860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4A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59752" y="2670048"/>
            <a:ext cx="14173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Threshold calibration; F1-Score optimised for Churn class (class 0)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5B838-E100-7E58-3CCA-123262D36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CF7432-56A5-9160-6AC7-A1E0EF784309}"/>
              </a:ext>
            </a:extLst>
          </p:cNvPr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4031E5-4032-DE4E-9BC6-B8F20B441729}"/>
              </a:ext>
            </a:extLst>
          </p:cNvPr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PRE- processing</a:t>
            </a:r>
            <a:endParaRPr lang="en-US" sz="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A60EF3A-F0DF-ED3E-246F-CB45E0CDA2C4}"/>
              </a:ext>
            </a:extLst>
          </p:cNvPr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8DB0E29-750F-26DE-2A0B-B79741677C9F}"/>
              </a:ext>
            </a:extLst>
          </p:cNvPr>
          <p:cNvSpPr/>
          <p:nvPr/>
        </p:nvSpPr>
        <p:spPr>
          <a:xfrm>
            <a:off x="411480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1831D38-9544-06D8-C55B-072486157645}"/>
              </a:ext>
            </a:extLst>
          </p:cNvPr>
          <p:cNvSpPr/>
          <p:nvPr/>
        </p:nvSpPr>
        <p:spPr>
          <a:xfrm>
            <a:off x="411480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94A8E0-E35B-C55B-91FD-88465A7611F4}"/>
              </a:ext>
            </a:extLst>
          </p:cNvPr>
          <p:cNvSpPr/>
          <p:nvPr/>
        </p:nvSpPr>
        <p:spPr>
          <a:xfrm>
            <a:off x="521208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245M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53CA290-8141-92F9-76B5-A362749DF8B7}"/>
              </a:ext>
            </a:extLst>
          </p:cNvPr>
          <p:cNvSpPr/>
          <p:nvPr/>
        </p:nvSpPr>
        <p:spPr>
          <a:xfrm>
            <a:off x="521208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Valid Transactions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24FCCB5-AD60-2606-25A2-2BB29C0217CA}"/>
              </a:ext>
            </a:extLst>
          </p:cNvPr>
          <p:cNvSpPr/>
          <p:nvPr/>
        </p:nvSpPr>
        <p:spPr>
          <a:xfrm>
            <a:off x="2532888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A215C7E-3A6B-E896-D1A0-3483FE6DA1BE}"/>
              </a:ext>
            </a:extLst>
          </p:cNvPr>
          <p:cNvSpPr/>
          <p:nvPr/>
        </p:nvSpPr>
        <p:spPr>
          <a:xfrm>
            <a:off x="2532888" y="1417320"/>
            <a:ext cx="54864" cy="9601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0A7A3E6-6E88-C510-76BD-328CA3A44847}"/>
              </a:ext>
            </a:extLst>
          </p:cNvPr>
          <p:cNvSpPr/>
          <p:nvPr/>
        </p:nvSpPr>
        <p:spPr>
          <a:xfrm>
            <a:off x="2642616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~500k</a:t>
            </a:r>
            <a:endParaRPr lang="en-US" sz="3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2426803-5D8D-D9E6-2DCE-E7AB5E3D89EA}"/>
              </a:ext>
            </a:extLst>
          </p:cNvPr>
          <p:cNvSpPr/>
          <p:nvPr/>
        </p:nvSpPr>
        <p:spPr>
          <a:xfrm>
            <a:off x="2642616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Distinct Customers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3B066EE-7F5A-4987-CFDD-76996497664E}"/>
              </a:ext>
            </a:extLst>
          </p:cNvPr>
          <p:cNvSpPr/>
          <p:nvPr/>
        </p:nvSpPr>
        <p:spPr>
          <a:xfrm>
            <a:off x="4654296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AA295AE-9FBA-F431-4DFF-18B353B39CB6}"/>
              </a:ext>
            </a:extLst>
          </p:cNvPr>
          <p:cNvSpPr/>
          <p:nvPr/>
        </p:nvSpPr>
        <p:spPr>
          <a:xfrm>
            <a:off x="4654296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4D4196B-0C8B-08B8-A845-E2E5E6C15F4A}"/>
              </a:ext>
            </a:extLst>
          </p:cNvPr>
          <p:cNvSpPr/>
          <p:nvPr/>
        </p:nvSpPr>
        <p:spPr>
          <a:xfrm>
            <a:off x="4764024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~5,000</a:t>
            </a:r>
            <a:endParaRPr lang="en-US" sz="3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FD96F12-5316-70AC-EB87-2718FDD54B68}"/>
              </a:ext>
            </a:extLst>
          </p:cNvPr>
          <p:cNvSpPr/>
          <p:nvPr/>
        </p:nvSpPr>
        <p:spPr>
          <a:xfrm>
            <a:off x="4764024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Distinct Products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363BD31-13C2-7107-35D6-D3C23D6F97FB}"/>
              </a:ext>
            </a:extLst>
          </p:cNvPr>
          <p:cNvSpPr/>
          <p:nvPr/>
        </p:nvSpPr>
        <p:spPr>
          <a:xfrm>
            <a:off x="6775704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2004267-9A88-70C5-3418-DD43BA0E6F82}"/>
              </a:ext>
            </a:extLst>
          </p:cNvPr>
          <p:cNvSpPr/>
          <p:nvPr/>
        </p:nvSpPr>
        <p:spPr>
          <a:xfrm>
            <a:off x="6775704" y="1417320"/>
            <a:ext cx="54864" cy="9601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EB76816-D611-DC90-9F40-A8C5F0941F73}"/>
              </a:ext>
            </a:extLst>
          </p:cNvPr>
          <p:cNvSpPr/>
          <p:nvPr/>
        </p:nvSpPr>
        <p:spPr>
          <a:xfrm>
            <a:off x="6885432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117</a:t>
            </a:r>
            <a:endParaRPr lang="en-US" sz="3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0AD2F85-E7A7-5833-8911-60216591B2CD}"/>
              </a:ext>
            </a:extLst>
          </p:cNvPr>
          <p:cNvSpPr/>
          <p:nvPr/>
        </p:nvSpPr>
        <p:spPr>
          <a:xfrm>
            <a:off x="6885432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Weeks of Data</a:t>
            </a:r>
            <a:endParaRPr lang="en-US" sz="9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5C97B41-0EB5-5CAF-E399-88C06BDDB4E0}"/>
              </a:ext>
            </a:extLst>
          </p:cNvPr>
          <p:cNvSpPr/>
          <p:nvPr/>
        </p:nvSpPr>
        <p:spPr>
          <a:xfrm>
            <a:off x="411480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BFFB77F-1631-EAF2-0A84-96910D2A55A1}"/>
              </a:ext>
            </a:extLst>
          </p:cNvPr>
          <p:cNvSpPr/>
          <p:nvPr/>
        </p:nvSpPr>
        <p:spPr>
          <a:xfrm>
            <a:off x="411480" y="2542032"/>
            <a:ext cx="2697480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65177E5-96AB-1AA8-6B8D-0626301311DC}"/>
              </a:ext>
            </a:extLst>
          </p:cNvPr>
          <p:cNvSpPr/>
          <p:nvPr/>
        </p:nvSpPr>
        <p:spPr>
          <a:xfrm>
            <a:off x="521208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Source &amp; Scope</a:t>
            </a:r>
            <a:endParaRPr lang="en-US" sz="10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CABFED5-86B1-C340-6425-739D9DFB43AA}"/>
              </a:ext>
            </a:extLst>
          </p:cNvPr>
          <p:cNvSpPr/>
          <p:nvPr/>
        </p:nvSpPr>
        <p:spPr>
          <a:xfrm>
            <a:off x="521208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Large-scale grocery transaction data from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Dunnhumby retail dataset, spanning Apr 2006 – Jul 2008.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Millions of valid records across customers and stores.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CFEC307-398C-A0EF-7141-A78377321DFC}"/>
              </a:ext>
            </a:extLst>
          </p:cNvPr>
          <p:cNvSpPr/>
          <p:nvPr/>
        </p:nvSpPr>
        <p:spPr>
          <a:xfrm>
            <a:off x="3264408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57099E0-DEF9-6157-047F-4807C742414B}"/>
              </a:ext>
            </a:extLst>
          </p:cNvPr>
          <p:cNvSpPr/>
          <p:nvPr/>
        </p:nvSpPr>
        <p:spPr>
          <a:xfrm>
            <a:off x="3264408" y="2542032"/>
            <a:ext cx="2697480" cy="29260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B5E5C95-7727-0CE8-D304-D561E711724A}"/>
              </a:ext>
            </a:extLst>
          </p:cNvPr>
          <p:cNvSpPr/>
          <p:nvPr/>
        </p:nvSpPr>
        <p:spPr>
          <a:xfrm>
            <a:off x="3374136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Merge &amp; Clean</a:t>
            </a:r>
            <a:endParaRPr lang="en-US" sz="10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86D5529-5206-7F4F-CCE0-4BFA3DA9B57E}"/>
              </a:ext>
            </a:extLst>
          </p:cNvPr>
          <p:cNvSpPr/>
          <p:nvPr/>
        </p:nvSpPr>
        <p:spPr>
          <a:xfrm>
            <a:off x="3374136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Transactions joined to temporal data on SHOP_WEEK.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Records filtered: quantity &gt; 0, spend &gt; 0.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Invalid dates coerced then dropped.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2723707-B1C9-BD26-0974-F7866DB73FDC}"/>
              </a:ext>
            </a:extLst>
          </p:cNvPr>
          <p:cNvSpPr/>
          <p:nvPr/>
        </p:nvSpPr>
        <p:spPr>
          <a:xfrm>
            <a:off x="6117336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4A7D64A-2FB5-477B-AFA5-D1BE3510B22F}"/>
              </a:ext>
            </a:extLst>
          </p:cNvPr>
          <p:cNvSpPr/>
          <p:nvPr/>
        </p:nvSpPr>
        <p:spPr>
          <a:xfrm>
            <a:off x="6117336" y="2542032"/>
            <a:ext cx="2697480" cy="2926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835DDAC-E046-8799-2053-5C34ABD1A566}"/>
              </a:ext>
            </a:extLst>
          </p:cNvPr>
          <p:cNvSpPr/>
          <p:nvPr/>
        </p:nvSpPr>
        <p:spPr>
          <a:xfrm>
            <a:off x="6227064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Outlier Capping</a:t>
            </a:r>
            <a:endParaRPr lang="en-US" sz="10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3EFECE5-8CF1-E579-B5D4-E402174C1EC6}"/>
              </a:ext>
            </a:extLst>
          </p:cNvPr>
          <p:cNvSpPr/>
          <p:nvPr/>
        </p:nvSpPr>
        <p:spPr>
          <a:xfrm>
            <a:off x="6227064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Spend and Quantity capped at the 99th percentile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to remove B2B / wholesale noise.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Spend cap: £16.29  ·  Qty cap: 10 units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F60418D-083B-340B-56CE-CBD5A5566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1792"/>
            <a:ext cx="9144000" cy="411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50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14 Seasonality-Aware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51206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73152" cy="1078992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4A"/>
                </a:solidFill>
              </a:rPr>
              <a:t>Holiday RFM  (6 features)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7922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· Holiday_Recency · Holiday_Frequency · Holiday_Monetary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0208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· Holiday_ProductDiversity · Avg_Basket_Size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2494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· Holiday_Spend_Velocity  (log Dec/Nov ratio)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615184"/>
            <a:ext cx="51206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2615184"/>
            <a:ext cx="73152" cy="107899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6883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4A"/>
                </a:solidFill>
              </a:rPr>
              <a:t>Pre-Holiday Loyalty  (4 features)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29626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· Pre_Frequency · Pre_Monetary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1912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· Pre_Recency · Pre_Monthly_Rate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4198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· — normalised by actual observation months 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785616"/>
            <a:ext cx="51206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1480" y="3785616"/>
            <a:ext cx="73152" cy="10789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4360" y="3858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4A"/>
                </a:solidFill>
              </a:rPr>
              <a:t>Cross-Window Signals  (4 features)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41330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· Holiday_Uplift_Ratio  (holiday vs. normal spend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3616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· Holiday_Spend_Share  (% of annual spend in Nov–Dec)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45902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· Frequency_Ratio · Pre_Loyalty_Score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15000" y="1444752"/>
            <a:ext cx="3017520" cy="351129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85216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D4A843"/>
                </a:solidFill>
              </a:rPr>
              <a:t>KEY INSIGHT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5216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The "Holiday Spike" Test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852160" y="2240280"/>
            <a:ext cx="2560320" cy="274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852160" y="2322576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B0"/>
                </a:solidFill>
              </a:rPr>
              <a:t>A customer with Holiday_Spend_Share &gt; 0.7 spent the majority of their annual budget in just two months.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A9BB0"/>
                </a:solidFill>
              </a:rPr>
              <a:t>A high Frequency_Ratio but low Pre_Loyalty_Score is the fingerprint of a seasonal-only shopper — not a true VIP.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A9BB0"/>
                </a:solidFill>
              </a:rPr>
              <a:t>These cross-window features capture what raw RFM cannot.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7F224-AD4A-5A66-0FFD-2A3541672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DE03C8-DA9C-D411-5B49-321FB522D619}"/>
              </a:ext>
            </a:extLst>
          </p:cNvPr>
          <p:cNvSpPr/>
          <p:nvPr/>
        </p:nvSpPr>
        <p:spPr>
          <a:xfrm>
            <a:off x="415349" y="235916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923BAB-2AC0-BE39-B4E2-30BB6BCCD2A1}"/>
              </a:ext>
            </a:extLst>
          </p:cNvPr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</a:rPr>
              <a:t>FEATURE ENGINEERING</a:t>
            </a:r>
            <a:endParaRPr lang="en-US" sz="800" dirty="0"/>
          </a:p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6147100-EA50-508C-7718-E4E5618F2A02}"/>
              </a:ext>
            </a:extLst>
          </p:cNvPr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B214E1D-F1AD-9F03-8FDF-D905B17D0E73}"/>
              </a:ext>
            </a:extLst>
          </p:cNvPr>
          <p:cNvSpPr/>
          <p:nvPr/>
        </p:nvSpPr>
        <p:spPr>
          <a:xfrm>
            <a:off x="411480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2EB6A2-49C2-719A-CAFA-EAB1E3D5F0CE}"/>
              </a:ext>
            </a:extLst>
          </p:cNvPr>
          <p:cNvSpPr/>
          <p:nvPr/>
        </p:nvSpPr>
        <p:spPr>
          <a:xfrm>
            <a:off x="411480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E0107C-69B2-6664-2243-FD2D047B34FD}"/>
              </a:ext>
            </a:extLst>
          </p:cNvPr>
          <p:cNvSpPr/>
          <p:nvPr/>
        </p:nvSpPr>
        <p:spPr>
          <a:xfrm>
            <a:off x="521208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245M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325442-17F2-2C79-AF18-F4CE4482DBAC}"/>
              </a:ext>
            </a:extLst>
          </p:cNvPr>
          <p:cNvSpPr/>
          <p:nvPr/>
        </p:nvSpPr>
        <p:spPr>
          <a:xfrm>
            <a:off x="521208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Valid Transactions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C35FE63-07B8-AFB7-A42F-37F426305BF3}"/>
              </a:ext>
            </a:extLst>
          </p:cNvPr>
          <p:cNvSpPr/>
          <p:nvPr/>
        </p:nvSpPr>
        <p:spPr>
          <a:xfrm>
            <a:off x="2532888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BAA285C-95D4-D281-BD00-4E6253C2087F}"/>
              </a:ext>
            </a:extLst>
          </p:cNvPr>
          <p:cNvSpPr/>
          <p:nvPr/>
        </p:nvSpPr>
        <p:spPr>
          <a:xfrm>
            <a:off x="2532888" y="1417320"/>
            <a:ext cx="54864" cy="9601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E35217-AEC1-D660-F984-0DC66E4858F4}"/>
              </a:ext>
            </a:extLst>
          </p:cNvPr>
          <p:cNvSpPr/>
          <p:nvPr/>
        </p:nvSpPr>
        <p:spPr>
          <a:xfrm>
            <a:off x="2642616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~500k</a:t>
            </a:r>
            <a:endParaRPr lang="en-US" sz="3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91A8374-D5B0-615C-FA78-65DB6088838A}"/>
              </a:ext>
            </a:extLst>
          </p:cNvPr>
          <p:cNvSpPr/>
          <p:nvPr/>
        </p:nvSpPr>
        <p:spPr>
          <a:xfrm>
            <a:off x="2642616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Distinct Customers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4EFAE79-BF2E-525E-ED4E-915639CF4468}"/>
              </a:ext>
            </a:extLst>
          </p:cNvPr>
          <p:cNvSpPr/>
          <p:nvPr/>
        </p:nvSpPr>
        <p:spPr>
          <a:xfrm>
            <a:off x="4654296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C1C57F2-E06F-9EC9-FD61-49EAA0EFA60B}"/>
              </a:ext>
            </a:extLst>
          </p:cNvPr>
          <p:cNvSpPr/>
          <p:nvPr/>
        </p:nvSpPr>
        <p:spPr>
          <a:xfrm>
            <a:off x="4654296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17E1F6F-8E5E-7310-503C-8E6DB76CF550}"/>
              </a:ext>
            </a:extLst>
          </p:cNvPr>
          <p:cNvSpPr/>
          <p:nvPr/>
        </p:nvSpPr>
        <p:spPr>
          <a:xfrm>
            <a:off x="4764024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~5,000</a:t>
            </a:r>
            <a:endParaRPr lang="en-US" sz="3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E5A03DB-5E8D-5B8D-11EA-66DB3272E633}"/>
              </a:ext>
            </a:extLst>
          </p:cNvPr>
          <p:cNvSpPr/>
          <p:nvPr/>
        </p:nvSpPr>
        <p:spPr>
          <a:xfrm>
            <a:off x="4764024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Distinct Products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51F066E-F474-9E9F-0013-8D3AD5318906}"/>
              </a:ext>
            </a:extLst>
          </p:cNvPr>
          <p:cNvSpPr/>
          <p:nvPr/>
        </p:nvSpPr>
        <p:spPr>
          <a:xfrm>
            <a:off x="6775704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FD97B1C-5156-BD4D-959A-802B399F45AF}"/>
              </a:ext>
            </a:extLst>
          </p:cNvPr>
          <p:cNvSpPr/>
          <p:nvPr/>
        </p:nvSpPr>
        <p:spPr>
          <a:xfrm>
            <a:off x="6775704" y="1417320"/>
            <a:ext cx="54864" cy="9601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819C32A-C3F3-4C97-032E-4638B4E77AB1}"/>
              </a:ext>
            </a:extLst>
          </p:cNvPr>
          <p:cNvSpPr/>
          <p:nvPr/>
        </p:nvSpPr>
        <p:spPr>
          <a:xfrm>
            <a:off x="6885432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117</a:t>
            </a:r>
            <a:endParaRPr lang="en-US" sz="3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F53CDA6-DAF8-6478-1495-7B0F46F13BA5}"/>
              </a:ext>
            </a:extLst>
          </p:cNvPr>
          <p:cNvSpPr/>
          <p:nvPr/>
        </p:nvSpPr>
        <p:spPr>
          <a:xfrm>
            <a:off x="6885432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Weeks of Data</a:t>
            </a:r>
            <a:endParaRPr lang="en-US" sz="9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EF5BF30-F2A8-E8A1-CACB-841B83B370EB}"/>
              </a:ext>
            </a:extLst>
          </p:cNvPr>
          <p:cNvSpPr/>
          <p:nvPr/>
        </p:nvSpPr>
        <p:spPr>
          <a:xfrm>
            <a:off x="411480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CB44548-454D-A1DD-0179-71E7A98B0EE2}"/>
              </a:ext>
            </a:extLst>
          </p:cNvPr>
          <p:cNvSpPr/>
          <p:nvPr/>
        </p:nvSpPr>
        <p:spPr>
          <a:xfrm>
            <a:off x="411480" y="2542032"/>
            <a:ext cx="2697480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31C08FD-472C-AEEC-2093-7E2F20ABAB2D}"/>
              </a:ext>
            </a:extLst>
          </p:cNvPr>
          <p:cNvSpPr/>
          <p:nvPr/>
        </p:nvSpPr>
        <p:spPr>
          <a:xfrm>
            <a:off x="521208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Source &amp; Scope</a:t>
            </a:r>
            <a:endParaRPr lang="en-US" sz="10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FF15DE8-C6D9-FECA-29F5-57C28C2C3FDA}"/>
              </a:ext>
            </a:extLst>
          </p:cNvPr>
          <p:cNvSpPr/>
          <p:nvPr/>
        </p:nvSpPr>
        <p:spPr>
          <a:xfrm>
            <a:off x="521208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Large-scale grocery transaction data from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Dunnhumby retail dataset, spanning Apr 2006 – Jul 2008.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Millions of valid records across customers and stores.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69BA9C7-37CE-CF3E-7F63-5B2CC6480FDC}"/>
              </a:ext>
            </a:extLst>
          </p:cNvPr>
          <p:cNvSpPr/>
          <p:nvPr/>
        </p:nvSpPr>
        <p:spPr>
          <a:xfrm>
            <a:off x="3264408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30C2F33-1AA6-C168-9B3A-8BFA7D090BAA}"/>
              </a:ext>
            </a:extLst>
          </p:cNvPr>
          <p:cNvSpPr/>
          <p:nvPr/>
        </p:nvSpPr>
        <p:spPr>
          <a:xfrm>
            <a:off x="3264408" y="2542032"/>
            <a:ext cx="2697480" cy="29260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F522697-F539-388F-A0F5-AB5637D4D55D}"/>
              </a:ext>
            </a:extLst>
          </p:cNvPr>
          <p:cNvSpPr/>
          <p:nvPr/>
        </p:nvSpPr>
        <p:spPr>
          <a:xfrm>
            <a:off x="3374136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Merge &amp; Clean</a:t>
            </a:r>
            <a:endParaRPr lang="en-US" sz="10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1EC9B18-C9BC-65E1-F897-7ECA0FCEC04C}"/>
              </a:ext>
            </a:extLst>
          </p:cNvPr>
          <p:cNvSpPr/>
          <p:nvPr/>
        </p:nvSpPr>
        <p:spPr>
          <a:xfrm>
            <a:off x="3374136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Transactions joined to temporal data on SHOP_WEEK.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Records filtered: quantity &gt; 0, spend &gt; 0.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Invalid dates coerced then dropped.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CE1B7C0-B12A-89E8-3DB2-D0D14BF2F5BD}"/>
              </a:ext>
            </a:extLst>
          </p:cNvPr>
          <p:cNvSpPr/>
          <p:nvPr/>
        </p:nvSpPr>
        <p:spPr>
          <a:xfrm>
            <a:off x="6117336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101E5B3-9B5B-D4F3-3A44-3DDD800BEDB3}"/>
              </a:ext>
            </a:extLst>
          </p:cNvPr>
          <p:cNvSpPr/>
          <p:nvPr/>
        </p:nvSpPr>
        <p:spPr>
          <a:xfrm>
            <a:off x="6117336" y="2542032"/>
            <a:ext cx="2697480" cy="2926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6300977-381F-E3AC-8E7D-4C0B19F25C77}"/>
              </a:ext>
            </a:extLst>
          </p:cNvPr>
          <p:cNvSpPr/>
          <p:nvPr/>
        </p:nvSpPr>
        <p:spPr>
          <a:xfrm>
            <a:off x="6227064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Outlier Capping</a:t>
            </a:r>
            <a:endParaRPr lang="en-US" sz="10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D77D21D-3D52-8BFE-7830-3005EA3E6226}"/>
              </a:ext>
            </a:extLst>
          </p:cNvPr>
          <p:cNvSpPr/>
          <p:nvPr/>
        </p:nvSpPr>
        <p:spPr>
          <a:xfrm>
            <a:off x="6227064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Spend and Quantity capped at the 99th percentile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to remove B2B / wholesale noise.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Spend cap: £16.29  ·  Qty cap: 10 units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F6A83C2-8EA9-9F5E-60C2-5FFC5F29C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7081"/>
            <a:ext cx="9144000" cy="381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507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D0236-16E0-CEC0-859C-214A091F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575E18-A283-6D96-69B3-813CB7025CEA}"/>
              </a:ext>
            </a:extLst>
          </p:cNvPr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56324D-9273-1F82-7DFE-AF4CEF283012}"/>
              </a:ext>
            </a:extLst>
          </p:cNvPr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</a:rPr>
              <a:t>FEATURE ENGINEERING</a:t>
            </a:r>
            <a:endParaRPr lang="en-US" sz="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C57EA13-8648-FEF6-114F-81845BCE261C}"/>
              </a:ext>
            </a:extLst>
          </p:cNvPr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9868CD-5905-3D76-F068-BE06AD62D6D3}"/>
              </a:ext>
            </a:extLst>
          </p:cNvPr>
          <p:cNvSpPr/>
          <p:nvPr/>
        </p:nvSpPr>
        <p:spPr>
          <a:xfrm>
            <a:off x="411480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598F10-74A4-48F1-073C-0F09CC8736DE}"/>
              </a:ext>
            </a:extLst>
          </p:cNvPr>
          <p:cNvSpPr/>
          <p:nvPr/>
        </p:nvSpPr>
        <p:spPr>
          <a:xfrm>
            <a:off x="411480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B9A2EC1-610D-8866-9CDB-944947D7956D}"/>
              </a:ext>
            </a:extLst>
          </p:cNvPr>
          <p:cNvSpPr/>
          <p:nvPr/>
        </p:nvSpPr>
        <p:spPr>
          <a:xfrm>
            <a:off x="521208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245M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EAE3479-D537-5300-F5B8-B69300031562}"/>
              </a:ext>
            </a:extLst>
          </p:cNvPr>
          <p:cNvSpPr/>
          <p:nvPr/>
        </p:nvSpPr>
        <p:spPr>
          <a:xfrm>
            <a:off x="521208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Valid Transactions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3B8E529-B4F0-6A0F-4B5D-3E07B398E415}"/>
              </a:ext>
            </a:extLst>
          </p:cNvPr>
          <p:cNvSpPr/>
          <p:nvPr/>
        </p:nvSpPr>
        <p:spPr>
          <a:xfrm>
            <a:off x="2532888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3A24632-5BEC-9EB9-FA62-3CC2E1F3B7BD}"/>
              </a:ext>
            </a:extLst>
          </p:cNvPr>
          <p:cNvSpPr/>
          <p:nvPr/>
        </p:nvSpPr>
        <p:spPr>
          <a:xfrm>
            <a:off x="2532888" y="1417320"/>
            <a:ext cx="54864" cy="9601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BF9763-BAA4-4751-0304-51491870F26B}"/>
              </a:ext>
            </a:extLst>
          </p:cNvPr>
          <p:cNvSpPr/>
          <p:nvPr/>
        </p:nvSpPr>
        <p:spPr>
          <a:xfrm>
            <a:off x="2642616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~500k</a:t>
            </a:r>
            <a:endParaRPr lang="en-US" sz="3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E5E0CED-EAC9-1061-6D42-6FBF19F78EB1}"/>
              </a:ext>
            </a:extLst>
          </p:cNvPr>
          <p:cNvSpPr/>
          <p:nvPr/>
        </p:nvSpPr>
        <p:spPr>
          <a:xfrm>
            <a:off x="2642616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Distinct Customers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A619CAE-3D58-4491-EEBC-76C3B17F1AC8}"/>
              </a:ext>
            </a:extLst>
          </p:cNvPr>
          <p:cNvSpPr/>
          <p:nvPr/>
        </p:nvSpPr>
        <p:spPr>
          <a:xfrm>
            <a:off x="4654296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F56CAB5-B924-9657-0A08-05F232364813}"/>
              </a:ext>
            </a:extLst>
          </p:cNvPr>
          <p:cNvSpPr/>
          <p:nvPr/>
        </p:nvSpPr>
        <p:spPr>
          <a:xfrm>
            <a:off x="4654296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18D9FB4-2629-EE80-73A2-29C7C82A4620}"/>
              </a:ext>
            </a:extLst>
          </p:cNvPr>
          <p:cNvSpPr/>
          <p:nvPr/>
        </p:nvSpPr>
        <p:spPr>
          <a:xfrm>
            <a:off x="4764024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~5,000</a:t>
            </a:r>
            <a:endParaRPr lang="en-US" sz="3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27A7ABA-8CA2-8666-F83D-DEC9FDEB4977}"/>
              </a:ext>
            </a:extLst>
          </p:cNvPr>
          <p:cNvSpPr/>
          <p:nvPr/>
        </p:nvSpPr>
        <p:spPr>
          <a:xfrm>
            <a:off x="4764024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Distinct Products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8AB74B6-8AF7-97CE-E737-14C11EF52C64}"/>
              </a:ext>
            </a:extLst>
          </p:cNvPr>
          <p:cNvSpPr/>
          <p:nvPr/>
        </p:nvSpPr>
        <p:spPr>
          <a:xfrm>
            <a:off x="6775704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BEC227A-E380-2EDA-029D-5E82EB99232B}"/>
              </a:ext>
            </a:extLst>
          </p:cNvPr>
          <p:cNvSpPr/>
          <p:nvPr/>
        </p:nvSpPr>
        <p:spPr>
          <a:xfrm>
            <a:off x="6775704" y="1417320"/>
            <a:ext cx="54864" cy="9601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A46B3E1-033A-59C1-B36F-66294BCE19D8}"/>
              </a:ext>
            </a:extLst>
          </p:cNvPr>
          <p:cNvSpPr/>
          <p:nvPr/>
        </p:nvSpPr>
        <p:spPr>
          <a:xfrm>
            <a:off x="6885432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117</a:t>
            </a:r>
            <a:endParaRPr lang="en-US" sz="3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9135745-D962-E962-B129-5DE78F4D824F}"/>
              </a:ext>
            </a:extLst>
          </p:cNvPr>
          <p:cNvSpPr/>
          <p:nvPr/>
        </p:nvSpPr>
        <p:spPr>
          <a:xfrm>
            <a:off x="6885432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Weeks of Data</a:t>
            </a:r>
            <a:endParaRPr lang="en-US" sz="9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0C78184-1CF7-0338-8A59-54B1C698C186}"/>
              </a:ext>
            </a:extLst>
          </p:cNvPr>
          <p:cNvSpPr/>
          <p:nvPr/>
        </p:nvSpPr>
        <p:spPr>
          <a:xfrm>
            <a:off x="411480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B0220A4-38DB-1B2D-CF96-230FC0479296}"/>
              </a:ext>
            </a:extLst>
          </p:cNvPr>
          <p:cNvSpPr/>
          <p:nvPr/>
        </p:nvSpPr>
        <p:spPr>
          <a:xfrm>
            <a:off x="411480" y="2542032"/>
            <a:ext cx="2697480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E27768D-E796-7AAB-1B68-F021FB35FC5E}"/>
              </a:ext>
            </a:extLst>
          </p:cNvPr>
          <p:cNvSpPr/>
          <p:nvPr/>
        </p:nvSpPr>
        <p:spPr>
          <a:xfrm>
            <a:off x="521208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Source &amp; Scope</a:t>
            </a:r>
            <a:endParaRPr lang="en-US" sz="10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6572139-9761-8BA0-CC27-C7AA535A1372}"/>
              </a:ext>
            </a:extLst>
          </p:cNvPr>
          <p:cNvSpPr/>
          <p:nvPr/>
        </p:nvSpPr>
        <p:spPr>
          <a:xfrm>
            <a:off x="521208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Large-scale grocery transaction data from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Dunnhumby retail dataset, spanning Apr 2006 – Jul 2008.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Millions of valid records across customers and stores.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10654B6-1D72-B0C4-2E9F-C3A680F57ACA}"/>
              </a:ext>
            </a:extLst>
          </p:cNvPr>
          <p:cNvSpPr/>
          <p:nvPr/>
        </p:nvSpPr>
        <p:spPr>
          <a:xfrm>
            <a:off x="3264408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E33A760-25E8-7C00-9E22-7D9040C3875E}"/>
              </a:ext>
            </a:extLst>
          </p:cNvPr>
          <p:cNvSpPr/>
          <p:nvPr/>
        </p:nvSpPr>
        <p:spPr>
          <a:xfrm>
            <a:off x="3264408" y="2542032"/>
            <a:ext cx="2697480" cy="29260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3141902-25B7-52F4-E6D1-D07936618796}"/>
              </a:ext>
            </a:extLst>
          </p:cNvPr>
          <p:cNvSpPr/>
          <p:nvPr/>
        </p:nvSpPr>
        <p:spPr>
          <a:xfrm>
            <a:off x="3374136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Merge &amp; Clean</a:t>
            </a:r>
            <a:endParaRPr lang="en-US" sz="10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4319BB9-54AE-50F6-A525-FD90D2834396}"/>
              </a:ext>
            </a:extLst>
          </p:cNvPr>
          <p:cNvSpPr/>
          <p:nvPr/>
        </p:nvSpPr>
        <p:spPr>
          <a:xfrm>
            <a:off x="3374136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Transactions joined to temporal data on SHOP_WEEK.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Records filtered: quantity &gt; 0, spend &gt; 0.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Invalid dates coerced then dropped.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F7E5D23-2A82-B6E5-24F6-191703FC00E9}"/>
              </a:ext>
            </a:extLst>
          </p:cNvPr>
          <p:cNvSpPr/>
          <p:nvPr/>
        </p:nvSpPr>
        <p:spPr>
          <a:xfrm>
            <a:off x="6117336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8979130-67EF-3F51-B925-DB050BB8B748}"/>
              </a:ext>
            </a:extLst>
          </p:cNvPr>
          <p:cNvSpPr/>
          <p:nvPr/>
        </p:nvSpPr>
        <p:spPr>
          <a:xfrm>
            <a:off x="6117336" y="2542032"/>
            <a:ext cx="2697480" cy="2926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53C9D43-BAD9-BE3F-BAFC-180CE7FB3739}"/>
              </a:ext>
            </a:extLst>
          </p:cNvPr>
          <p:cNvSpPr/>
          <p:nvPr/>
        </p:nvSpPr>
        <p:spPr>
          <a:xfrm>
            <a:off x="6227064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Outlier Capping</a:t>
            </a:r>
            <a:endParaRPr lang="en-US" sz="10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85B55EA-A901-B670-49F6-9799F6AFAA58}"/>
              </a:ext>
            </a:extLst>
          </p:cNvPr>
          <p:cNvSpPr/>
          <p:nvPr/>
        </p:nvSpPr>
        <p:spPr>
          <a:xfrm>
            <a:off x="6227064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Spend and Quantity capped at the 99th percentile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to remove B2B / wholesale noise.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Spend cap: £16.29  ·  Qty cap: 10 units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44D65C4-0A5A-F3FB-36CC-4BE228CCA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8720"/>
            <a:ext cx="9144000" cy="373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555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GMM Clustering — Identifying True VIPs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</a:rPr>
              <a:t>Why GMM over K-Means?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K-Means assumes spherical, equal-size clusters — a poor fit for retail spending data where VIP patterns form elongated, tilted distributions.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GMM uses full covariance matrices to fit elliptical cluster shapes, matching how spending actually clusters in the wild.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401568"/>
            <a:ext cx="4023360" cy="14630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</a:rPr>
              <a:t>VIP Cluster Result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7673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80,908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424281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0"/>
                </a:solidFill>
              </a:rPr>
              <a:t>True VIPs identified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01952" y="37673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£247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01952" y="424281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0"/>
                </a:solidFill>
              </a:rPr>
              <a:t>Avg holiday spend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55264" y="37673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19.5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55264" y="424281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0"/>
                </a:solidFill>
              </a:rPr>
              <a:t>Avg holiday visits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444752"/>
            <a:ext cx="3401568" cy="34747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36592" y="14447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K-Means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14447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3"/>
                </a:solidFill>
              </a:rPr>
              <a:t>GMM 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792224"/>
            <a:ext cx="3401568" cy="457200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181051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392B"/>
                </a:solidFill>
              </a:rPr>
              <a:t>✗  Spherical clusters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181051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7D4E"/>
                </a:solidFill>
              </a:rPr>
              <a:t>✓  Elliptical clusters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267712"/>
            <a:ext cx="3401568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228600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392B"/>
                </a:solidFill>
              </a:rPr>
              <a:t>✗  Hard assignments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228600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7D4E"/>
                </a:solidFill>
              </a:rPr>
              <a:t>✓  Soft probabilities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743200"/>
            <a:ext cx="3401568" cy="457200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76148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392B"/>
                </a:solidFill>
              </a:rPr>
              <a:t>✗  Equal variance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76148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7D4E"/>
                </a:solidFill>
              </a:rPr>
              <a:t>✓  Full covariance matrix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218688"/>
            <a:ext cx="3401568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3236976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392B"/>
                </a:solidFill>
              </a:rPr>
              <a:t>✗  Brittle on skew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3236976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7D4E"/>
                </a:solidFill>
              </a:rPr>
              <a:t>✓  Handles skewed spend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694176"/>
            <a:ext cx="3401568" cy="457200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371246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392B"/>
                </a:solidFill>
              </a:rPr>
              <a:t>✗  No confidence score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371246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7D4E"/>
                </a:solidFill>
              </a:rPr>
              <a:t>✓  Membership probability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4261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0"/>
                </a:solidFill>
              </a:rPr>
              <a:t>BIC/AIC analysis confirmed n=3 as optimal cluster count.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EE688-2367-EFF4-9E6E-78463AFAE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C94D7F-D91F-91F7-6EEB-072A01742848}"/>
              </a:ext>
            </a:extLst>
          </p:cNvPr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8CA2FE-E33E-1536-2EEA-C86B7EFA4B7C}"/>
              </a:ext>
            </a:extLst>
          </p:cNvPr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</a:rPr>
              <a:t>Cluster Visualization</a:t>
            </a:r>
            <a:endParaRPr lang="en-US" sz="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96DD8D-4869-7937-9245-CB3B171FAC3F}"/>
              </a:ext>
            </a:extLst>
          </p:cNvPr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B8516F0-C6C2-3734-9115-22A489E914D0}"/>
              </a:ext>
            </a:extLst>
          </p:cNvPr>
          <p:cNvSpPr/>
          <p:nvPr/>
        </p:nvSpPr>
        <p:spPr>
          <a:xfrm>
            <a:off x="411480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176BEF7-3B53-D0D2-EFD9-3722191C829D}"/>
              </a:ext>
            </a:extLst>
          </p:cNvPr>
          <p:cNvSpPr/>
          <p:nvPr/>
        </p:nvSpPr>
        <p:spPr>
          <a:xfrm>
            <a:off x="411480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18A719-8BDC-1F23-B2B2-6A30C20CB734}"/>
              </a:ext>
            </a:extLst>
          </p:cNvPr>
          <p:cNvSpPr/>
          <p:nvPr/>
        </p:nvSpPr>
        <p:spPr>
          <a:xfrm>
            <a:off x="521208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245M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83FD41-39CD-FF32-2748-3B702C630928}"/>
              </a:ext>
            </a:extLst>
          </p:cNvPr>
          <p:cNvSpPr/>
          <p:nvPr/>
        </p:nvSpPr>
        <p:spPr>
          <a:xfrm>
            <a:off x="521208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Valid Transactions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CC66C47-D88D-6E68-5209-739176760F35}"/>
              </a:ext>
            </a:extLst>
          </p:cNvPr>
          <p:cNvSpPr/>
          <p:nvPr/>
        </p:nvSpPr>
        <p:spPr>
          <a:xfrm>
            <a:off x="2532888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8A68F51-49AD-32C7-28A7-C0B9AF68DBB4}"/>
              </a:ext>
            </a:extLst>
          </p:cNvPr>
          <p:cNvSpPr/>
          <p:nvPr/>
        </p:nvSpPr>
        <p:spPr>
          <a:xfrm>
            <a:off x="2532888" y="1417320"/>
            <a:ext cx="54864" cy="9601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BC9EB17-E44D-EF7E-455B-077336F0C970}"/>
              </a:ext>
            </a:extLst>
          </p:cNvPr>
          <p:cNvSpPr/>
          <p:nvPr/>
        </p:nvSpPr>
        <p:spPr>
          <a:xfrm>
            <a:off x="2642616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~500k</a:t>
            </a:r>
            <a:endParaRPr lang="en-US" sz="3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2FC0D05-7CE1-64A0-2347-56BF878992FE}"/>
              </a:ext>
            </a:extLst>
          </p:cNvPr>
          <p:cNvSpPr/>
          <p:nvPr/>
        </p:nvSpPr>
        <p:spPr>
          <a:xfrm>
            <a:off x="2642616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Distinct Customers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B8382B4-1AFC-71EB-B172-445E9EA8E9FD}"/>
              </a:ext>
            </a:extLst>
          </p:cNvPr>
          <p:cNvSpPr/>
          <p:nvPr/>
        </p:nvSpPr>
        <p:spPr>
          <a:xfrm>
            <a:off x="4654296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C8CBB87-FB4F-5C6F-6650-2EAB3DA292B5}"/>
              </a:ext>
            </a:extLst>
          </p:cNvPr>
          <p:cNvSpPr/>
          <p:nvPr/>
        </p:nvSpPr>
        <p:spPr>
          <a:xfrm>
            <a:off x="4654296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9BAE28F-1AAB-D067-F280-17BF752F093A}"/>
              </a:ext>
            </a:extLst>
          </p:cNvPr>
          <p:cNvSpPr/>
          <p:nvPr/>
        </p:nvSpPr>
        <p:spPr>
          <a:xfrm>
            <a:off x="4764024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~5,000</a:t>
            </a:r>
            <a:endParaRPr lang="en-US" sz="3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F4CA1D0-19CE-9260-3C58-5FEBD55CABF9}"/>
              </a:ext>
            </a:extLst>
          </p:cNvPr>
          <p:cNvSpPr/>
          <p:nvPr/>
        </p:nvSpPr>
        <p:spPr>
          <a:xfrm>
            <a:off x="4764024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Distinct Products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E40A112-D331-68CF-EAB9-B820B8B45E25}"/>
              </a:ext>
            </a:extLst>
          </p:cNvPr>
          <p:cNvSpPr/>
          <p:nvPr/>
        </p:nvSpPr>
        <p:spPr>
          <a:xfrm>
            <a:off x="6775704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006650C-5CE4-4EE6-F269-3A4019E87AFA}"/>
              </a:ext>
            </a:extLst>
          </p:cNvPr>
          <p:cNvSpPr/>
          <p:nvPr/>
        </p:nvSpPr>
        <p:spPr>
          <a:xfrm>
            <a:off x="6775704" y="1417320"/>
            <a:ext cx="54864" cy="9601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EE9C3A3-F6F8-559F-3C3C-0F38071E523A}"/>
              </a:ext>
            </a:extLst>
          </p:cNvPr>
          <p:cNvSpPr/>
          <p:nvPr/>
        </p:nvSpPr>
        <p:spPr>
          <a:xfrm>
            <a:off x="6885432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117</a:t>
            </a:r>
            <a:endParaRPr lang="en-US" sz="3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E2E7B87-31B2-08CE-FC89-4EE9EDD8D9FF}"/>
              </a:ext>
            </a:extLst>
          </p:cNvPr>
          <p:cNvSpPr/>
          <p:nvPr/>
        </p:nvSpPr>
        <p:spPr>
          <a:xfrm>
            <a:off x="6885432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Weeks of Data</a:t>
            </a:r>
            <a:endParaRPr lang="en-US" sz="9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9F8752A-24BD-C0E5-D627-53921AF21027}"/>
              </a:ext>
            </a:extLst>
          </p:cNvPr>
          <p:cNvSpPr/>
          <p:nvPr/>
        </p:nvSpPr>
        <p:spPr>
          <a:xfrm>
            <a:off x="411480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3C9BE1E-A472-6C6E-DBD7-84F1C3385AD6}"/>
              </a:ext>
            </a:extLst>
          </p:cNvPr>
          <p:cNvSpPr/>
          <p:nvPr/>
        </p:nvSpPr>
        <p:spPr>
          <a:xfrm>
            <a:off x="411480" y="2542032"/>
            <a:ext cx="2697480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276EF8E-FA18-FE23-28CA-B78ED4169B17}"/>
              </a:ext>
            </a:extLst>
          </p:cNvPr>
          <p:cNvSpPr/>
          <p:nvPr/>
        </p:nvSpPr>
        <p:spPr>
          <a:xfrm>
            <a:off x="521208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Source &amp; Scope</a:t>
            </a:r>
            <a:endParaRPr lang="en-US" sz="10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8AF62F0-1717-C200-1314-93EF9C03CF83}"/>
              </a:ext>
            </a:extLst>
          </p:cNvPr>
          <p:cNvSpPr/>
          <p:nvPr/>
        </p:nvSpPr>
        <p:spPr>
          <a:xfrm>
            <a:off x="521208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Large-scale grocery transaction data from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Dunnhumby retail dataset, spanning Apr 2006 – Jul 2008.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Millions of valid records across customers and stores.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5331B11-035C-6F23-AAD1-33D47CC21349}"/>
              </a:ext>
            </a:extLst>
          </p:cNvPr>
          <p:cNvSpPr/>
          <p:nvPr/>
        </p:nvSpPr>
        <p:spPr>
          <a:xfrm>
            <a:off x="3264408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FBABDD6-E2EF-8EE6-CA3A-2E4AA5A1E141}"/>
              </a:ext>
            </a:extLst>
          </p:cNvPr>
          <p:cNvSpPr/>
          <p:nvPr/>
        </p:nvSpPr>
        <p:spPr>
          <a:xfrm>
            <a:off x="3264408" y="2542032"/>
            <a:ext cx="2697480" cy="29260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D12E4A9-1529-016C-D20D-52B0E33EC9BF}"/>
              </a:ext>
            </a:extLst>
          </p:cNvPr>
          <p:cNvSpPr/>
          <p:nvPr/>
        </p:nvSpPr>
        <p:spPr>
          <a:xfrm>
            <a:off x="3374136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Merge &amp; Clean</a:t>
            </a:r>
            <a:endParaRPr lang="en-US" sz="10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691A325-A9E3-0BF7-CA84-D50EC301F0F2}"/>
              </a:ext>
            </a:extLst>
          </p:cNvPr>
          <p:cNvSpPr/>
          <p:nvPr/>
        </p:nvSpPr>
        <p:spPr>
          <a:xfrm>
            <a:off x="3374136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Transactions joined to temporal data on SHOP_WEEK.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Records filtered: quantity &gt; 0, spend &gt; 0.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Invalid dates coerced then dropped.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EB1FC3C-9773-0478-32D5-6F0222751B48}"/>
              </a:ext>
            </a:extLst>
          </p:cNvPr>
          <p:cNvSpPr/>
          <p:nvPr/>
        </p:nvSpPr>
        <p:spPr>
          <a:xfrm>
            <a:off x="6117336" y="254203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0E71618-B931-9C12-EAB7-D349E09257D0}"/>
              </a:ext>
            </a:extLst>
          </p:cNvPr>
          <p:cNvSpPr/>
          <p:nvPr/>
        </p:nvSpPr>
        <p:spPr>
          <a:xfrm>
            <a:off x="6117336" y="2542032"/>
            <a:ext cx="2697480" cy="2926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8253746-203A-6702-67FF-B8DDBFE76F4A}"/>
              </a:ext>
            </a:extLst>
          </p:cNvPr>
          <p:cNvSpPr/>
          <p:nvPr/>
        </p:nvSpPr>
        <p:spPr>
          <a:xfrm>
            <a:off x="6227064" y="2542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Outlier Capping</a:t>
            </a:r>
            <a:endParaRPr lang="en-US" sz="10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DEB9E8A-C69A-D044-C474-742191A16905}"/>
              </a:ext>
            </a:extLst>
          </p:cNvPr>
          <p:cNvSpPr/>
          <p:nvPr/>
        </p:nvSpPr>
        <p:spPr>
          <a:xfrm>
            <a:off x="6227064" y="2889504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Spend and Quantity capped at the 99th percentile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to remove B2B / wholesale noise.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Spend cap: £16.29  ·  Qty cap: 10 units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ADE9C60-7787-AAE7-754F-3DE6044D3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3248"/>
            <a:ext cx="9144000" cy="38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9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Churn: The 70% Maintenance Rule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</a:rPr>
              <a:t>"Hard churn" (0% spend) is extremely rare in grocery retail.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</a:rPr>
              <a:t>Instead, we measure Value Churn — whether a VIP maintains VIP-level spending post-holiday.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212848"/>
            <a:ext cx="2560320" cy="169164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Holiday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Monthly Run-Rate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DE8"/>
                </a:solidFill>
              </a:rPr>
              <a:t>Holiday_Monetary ÷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8EDE8"/>
                </a:solidFill>
              </a:rPr>
              <a:t>(Nov–Dec = 2 months)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99232" y="2944368"/>
            <a:ext cx="502920" cy="54864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880360" y="27432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3"/>
                </a:solidFill>
              </a:rPr>
              <a:t>✕ 70%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2212848"/>
            <a:ext cx="2560320" cy="16916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1188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Minimum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Retention Threshold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</a:rPr>
              <a:t>Run-Rate × 0.70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3154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</a:rPr>
              <a:t>Must achieve ≥70%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</a:rPr>
              <a:t>of holiday monthly spend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08192" y="2944368"/>
            <a:ext cx="502920" cy="54864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0" y="27432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compare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2212848"/>
            <a:ext cx="2103120" cy="777240"/>
          </a:xfrm>
          <a:prstGeom prst="rect">
            <a:avLst/>
          </a:prstGeom>
          <a:solidFill>
            <a:srgbClr val="2D7D4E"/>
          </a:solidFill>
          <a:ln w="12700">
            <a:solidFill>
              <a:srgbClr val="2D7D4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20840" y="2267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Retained  (1)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2578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EDE8"/>
                </a:solidFill>
              </a:rPr>
              <a:t>74.5%  ·  60,259 VIPs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3127248"/>
            <a:ext cx="210312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20840" y="31821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Downgraded  (0)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3493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5BBBB"/>
                </a:solidFill>
              </a:rPr>
              <a:t>25.5%  ·  20,649 VIPs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41330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BB0"/>
                </a:solidFill>
              </a:rPr>
              <a:t>Grocery hard-churn is rare — redefining churn as downgrade creates a realistic, naturally imbalanced label that mirrors actual business risk.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Value Churn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41605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4160520" cy="38404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6072" y="1444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 01  —  Logistic Regression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883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9BB0"/>
                </a:solidFill>
              </a:rPr>
              <a:t>Baseline · Interpretable · GridSearchCV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" y="2212848"/>
            <a:ext cx="146304" cy="146304"/>
          </a:xfrm>
          <a:prstGeom prst="ellipse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95528" y="2176272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ColumnTransformer with log1p on monetary features — fixes right-skew that naive scaling cannot handle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6072" y="2834640"/>
            <a:ext cx="146304" cy="146304"/>
          </a:xfrm>
          <a:prstGeom prst="ellipse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95528" y="2798064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GridSearchCV: 12 combos × 5 folds · L1/L2 tested · C range: 0.001–100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" y="3456432"/>
            <a:ext cx="146304" cy="146304"/>
          </a:xfrm>
          <a:prstGeom prst="ellipse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5528" y="3419856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class_weight='balanced' · churn_f1_scorer optimised for class 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" y="4078224"/>
            <a:ext cx="146304" cy="146304"/>
          </a:xfrm>
          <a:prstGeom prst="ellipse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5528" y="4041648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Best params: penalty=L2, C=100, solver=liblinear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1444752"/>
            <a:ext cx="41605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00600" y="1444752"/>
            <a:ext cx="416052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65192" y="1444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 02  —  XGBoost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65192" y="1883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9BB0"/>
                </a:solidFill>
              </a:rPr>
              <a:t>Ensemble · Non-linear · RandomizedSearchCV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65192" y="2212848"/>
            <a:ext cx="146304" cy="146304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84648" y="2176272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compute_sample_weight('balanced') — directly weights class 0 rows to correct class imbalance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65192" y="2834640"/>
            <a:ext cx="146304" cy="146304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184648" y="2798064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RandomizedSearchCV: 40 combos × 3 folds · gamma, reg_alpha, reg_lambda included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65192" y="3456432"/>
            <a:ext cx="146304" cy="146304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84648" y="3419856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Params searched: max_depth, learning_rate, subsample, colsample_bytree, min_child_weight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65192" y="4078224"/>
            <a:ext cx="146304" cy="146304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84648" y="4041648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Same churn_f1_scorer ensures fair head-to-head comparison with LR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EVALUATION &amp;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 — Churn Class (Class 0)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4864" cy="96012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1208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21208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Churn Class F1-Score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32888" y="1417320"/>
            <a:ext cx="54864" cy="9601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42616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42616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Churn Recall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54296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54296" y="1417320"/>
            <a:ext cx="54864" cy="9601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64024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64024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Churn Precision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75704" y="1417320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775704" y="1417320"/>
            <a:ext cx="54864" cy="960120"/>
          </a:xfrm>
          <a:prstGeom prst="rect">
            <a:avLst/>
          </a:prstGeom>
          <a:solidFill>
            <a:srgbClr val="0A9E8C"/>
          </a:solidFill>
          <a:ln w="12700">
            <a:solidFill>
              <a:srgbClr val="0A9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85432" y="1490472"/>
            <a:ext cx="18013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9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85432" y="1974190"/>
            <a:ext cx="18013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Overall Accuracy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542032"/>
            <a:ext cx="36576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480" y="2542032"/>
            <a:ext cx="3657600" cy="3200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21208" y="2542032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Confusion Matrix  (optimal threshold)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862072"/>
            <a:ext cx="1207008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48056" y="2898648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18488" y="2862072"/>
            <a:ext cx="1207008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655064" y="2898648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4A"/>
                </a:solidFill>
              </a:rPr>
              <a:t>Predicted: Downgraded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825496" y="2862072"/>
            <a:ext cx="1207008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862072" y="2898648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4A"/>
                </a:solidFill>
              </a:rPr>
              <a:t>Predicted: Retained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3502152"/>
            <a:ext cx="1207008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48056" y="3538728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4A"/>
                </a:solidFill>
              </a:rPr>
              <a:t>Actual: Downgraded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18488" y="3502152"/>
            <a:ext cx="1207008" cy="621792"/>
          </a:xfrm>
          <a:prstGeom prst="rect">
            <a:avLst/>
          </a:prstGeom>
          <a:solidFill>
            <a:srgbClr val="E8F5F0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655064" y="3538728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4A"/>
                </a:solidFill>
              </a:rPr>
              <a:t>3,924 TP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825496" y="3502152"/>
            <a:ext cx="1207008" cy="621792"/>
          </a:xfrm>
          <a:prstGeom prst="rect">
            <a:avLst/>
          </a:prstGeom>
          <a:solidFill>
            <a:srgbClr val="FCF0F0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862072" y="3538728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4A"/>
                </a:solidFill>
              </a:rPr>
              <a:t>1,238 FN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11480" y="4142232"/>
            <a:ext cx="1207008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48056" y="4178808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4A"/>
                </a:solidFill>
              </a:rPr>
              <a:t>Actual: Retained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18488" y="4142232"/>
            <a:ext cx="1207008" cy="621792"/>
          </a:xfrm>
          <a:prstGeom prst="rect">
            <a:avLst/>
          </a:prstGeom>
          <a:solidFill>
            <a:srgbClr val="FCF0F0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655064" y="4178808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4A"/>
                </a:solidFill>
              </a:rPr>
              <a:t>3,426 FP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825496" y="4142232"/>
            <a:ext cx="1207008" cy="621792"/>
          </a:xfrm>
          <a:prstGeom prst="rect">
            <a:avLst/>
          </a:prstGeom>
          <a:solidFill>
            <a:srgbClr val="E8F5F0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862072" y="4178808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4A"/>
                </a:solidFill>
              </a:rPr>
              <a:t>11,639 TN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251960" y="2542032"/>
            <a:ext cx="44805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251960" y="2542032"/>
            <a:ext cx="4480560" cy="32004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361688" y="2542032"/>
            <a:ext cx="4261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 Head-to-Head  (Churn class, class 0)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51960" y="2862072"/>
            <a:ext cx="896112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288536" y="28986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</a:rPr>
              <a:t>Model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48072" y="2862072"/>
            <a:ext cx="896112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184648" y="28986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</a:rPr>
              <a:t>F1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044184" y="2862072"/>
            <a:ext cx="896112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080760" y="28986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</a:rPr>
              <a:t>Recall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940296" y="2862072"/>
            <a:ext cx="896112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976872" y="28986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</a:rPr>
              <a:t>Precision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836408" y="2862072"/>
            <a:ext cx="896112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872984" y="28986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</a:rPr>
              <a:t>Accuracy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251960" y="3502152"/>
            <a:ext cx="896112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288536" y="3538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4A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148072" y="3502152"/>
            <a:ext cx="896112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184648" y="3538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4A"/>
                </a:solidFill>
              </a:rPr>
              <a:t>0.6306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44184" y="3502152"/>
            <a:ext cx="896112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080760" y="3538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4A"/>
                </a:solidFill>
              </a:rPr>
              <a:t>0.7590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940296" y="3502152"/>
            <a:ext cx="896112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976872" y="3538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4A"/>
                </a:solidFill>
              </a:rPr>
              <a:t>0.54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836408" y="3502152"/>
            <a:ext cx="896112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872984" y="3538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4A"/>
                </a:solidFill>
              </a:rPr>
              <a:t>0.77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251960" y="4142232"/>
            <a:ext cx="896112" cy="621792"/>
          </a:xfrm>
          <a:prstGeom prst="rect">
            <a:avLst/>
          </a:prstGeom>
          <a:solidFill>
            <a:srgbClr val="E8F5F0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288536" y="41788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D4E"/>
                </a:solidFill>
              </a:rPr>
              <a:t>XGBoost  ★ Winner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48072" y="4142232"/>
            <a:ext cx="896112" cy="621792"/>
          </a:xfrm>
          <a:prstGeom prst="rect">
            <a:avLst/>
          </a:prstGeom>
          <a:solidFill>
            <a:srgbClr val="E8F5F0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5184648" y="41788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4A"/>
                </a:solidFill>
              </a:rPr>
              <a:t>0.6344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044184" y="4142232"/>
            <a:ext cx="896112" cy="621792"/>
          </a:xfrm>
          <a:prstGeom prst="rect">
            <a:avLst/>
          </a:prstGeom>
          <a:solidFill>
            <a:srgbClr val="E8F5F0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080760" y="41788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4A"/>
                </a:solidFill>
              </a:rPr>
              <a:t>0.7451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940296" y="4142232"/>
            <a:ext cx="896112" cy="621792"/>
          </a:xfrm>
          <a:prstGeom prst="rect">
            <a:avLst/>
          </a:prstGeom>
          <a:solidFill>
            <a:srgbClr val="E8F5F0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976872" y="41788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4A"/>
                </a:solidFill>
              </a:rPr>
              <a:t>0.55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836408" y="4142232"/>
            <a:ext cx="896112" cy="621792"/>
          </a:xfrm>
          <a:prstGeom prst="rect">
            <a:avLst/>
          </a:prstGeom>
          <a:solidFill>
            <a:srgbClr val="E8F5F0"/>
          </a:solidFill>
          <a:ln w="508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872984" y="41788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4A"/>
                </a:solidFill>
              </a:rPr>
              <a:t>0.78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361688" y="450799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B0"/>
                </a:solidFill>
              </a:rPr>
              <a:t>The model correctly flags 77 in every 100 VIPs who are about to downgrade — enabling proactive retention before revenue is lost.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KEY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Revealed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22860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413308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73152" cy="157276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7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9385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4A"/>
                </a:solidFill>
              </a:rPr>
              <a:t>Pre-Holiday Behaviour Dominates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Over 56% of a VIP's churn probability is determined by Pre_Monetary and Pre_Frequency — behavioural signals from September and October. True loyalty cannot be bought in December.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444752"/>
            <a:ext cx="413308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444752"/>
            <a:ext cx="73152" cy="1572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37760" y="15361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19385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4A"/>
                </a:solidFill>
              </a:rPr>
              <a:t>Holiday VIP Downgrade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1 in 4 VIPs fail to maintain 70% of their holiday monthly spend in the post-holiday period. 20,649 VIPs are actively bleeding revenue — this is the business problem the model solves.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136392"/>
            <a:ext cx="413308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3136392"/>
            <a:ext cx="73152" cy="15727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32278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30,685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" y="3630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4A"/>
                </a:solidFill>
              </a:rPr>
              <a:t>At-Risk VIPs Flagged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88620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The final model flags 30,685 VIPs for marketing intervention, with an average holiday spend of £248. These are the customers most likely to downgrade if not engaged in January.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136392"/>
            <a:ext cx="413308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3136392"/>
            <a:ext cx="73152" cy="15727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37760" y="32278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Uplift = High Risk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37760" y="3630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4A"/>
                </a:solidFill>
              </a:rPr>
              <a:t>Surge ≠ Loyalty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88620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A high Holiday_Spend_Share combined with a low Pre_Loyalty_Score is the clearest fingerprint of a seasonal-only shopper. Holiday spending intensity alone is not a retention predictor.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2137" y="2011680"/>
            <a:ext cx="2831123" cy="937260"/>
          </a:xfrm>
          <a:prstGeom prst="roundRect">
            <a:avLst>
              <a:gd name="adj" fmla="val 2142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936629" y="2011680"/>
            <a:ext cx="2936631" cy="801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Thank-You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1798</Words>
  <Application>Microsoft Office PowerPoint</Application>
  <PresentationFormat>On-screen Show (16:9)</PresentationFormat>
  <Paragraphs>324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Seasonality-Aware Customer Segmentation</dc:title>
  <dc:subject>PptxGenJS Presentation</dc:subject>
  <dc:creator>Aditya Vardhan Sharma, Aryan Yadav, Arin Ajay Lale, Hemank Bhardwaj</dc:creator>
  <cp:lastModifiedBy>Aryan Yadav</cp:lastModifiedBy>
  <cp:revision>4</cp:revision>
  <dcterms:created xsi:type="dcterms:W3CDTF">2026-04-03T17:59:48Z</dcterms:created>
  <dcterms:modified xsi:type="dcterms:W3CDTF">2026-04-06T21:23:32Z</dcterms:modified>
</cp:coreProperties>
</file>